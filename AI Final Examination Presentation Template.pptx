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1B21A8-ABBC-478D-B53D-E06D5AF5BAE6}">
  <a:tblStyle styleId="{761B21A8-ABBC-478D-B53D-E06D5AF5BA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1a3c6ac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1a3c6ac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1a3c6ac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1a3c6ac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1a3c6ac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1a3c6ac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1a3c6ac6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1a3c6ac6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1a3c6ac6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1a3c6ac6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1a3c6ac6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1a3c6ac6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1a3c6ac6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1a3c6ac6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Agent: Title/use</a:t>
            </a:r>
            <a:endParaRPr/>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Give a short name to the agent: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 library reservation making agent"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Give a short summary of the agent's use or goals: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"It gives a user a way to easily find and reserve a study space at any of the Berlin libraries the user has access to"</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Also put your name, semester, and group (A Smith, SoSe26, A+B) on this slide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t>Next slide is what environment/context does it operate in:</a:t>
            </a:r>
            <a:endParaRPr sz="1400"/>
          </a:p>
        </p:txBody>
      </p:sp>
      <p:sp>
        <p:nvSpPr>
          <p:cNvPr id="61" name="Google Shape;61;p14"/>
          <p:cNvSpPr txBox="1"/>
          <p:nvPr>
            <p:ph idx="1" type="body"/>
          </p:nvPr>
        </p:nvSpPr>
        <p:spPr>
          <a:xfrm>
            <a:off x="311700" y="1152475"/>
            <a:ext cx="8520600" cy="8559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Use the Russell &amp; Norvig Environment Model to summarize where your agent would be operating. Do not spend more than 30 seconds on this - we'll get it fast.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Fully observable vs partially observable, etc - Example below</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graphicFrame>
        <p:nvGraphicFramePr>
          <p:cNvPr id="62" name="Google Shape;62;p14"/>
          <p:cNvGraphicFramePr/>
          <p:nvPr/>
        </p:nvGraphicFramePr>
        <p:xfrm>
          <a:off x="-12" y="2141300"/>
          <a:ext cx="3000000" cy="3000000"/>
        </p:xfrm>
        <a:graphic>
          <a:graphicData uri="http://schemas.openxmlformats.org/drawingml/2006/table">
            <a:tbl>
              <a:tblPr>
                <a:noFill/>
                <a:tableStyleId>{761B21A8-ABBC-478D-B53D-E06D5AF5BAE6}</a:tableStyleId>
              </a:tblPr>
              <a:tblGrid>
                <a:gridCol w="2100100"/>
                <a:gridCol w="2100100"/>
                <a:gridCol w="2100100"/>
                <a:gridCol w="2843725"/>
              </a:tblGrid>
              <a:tr h="381000">
                <a:tc>
                  <a:txBody>
                    <a:bodyPr/>
                    <a:lstStyle/>
                    <a:p>
                      <a:pPr indent="0" lvl="0" marL="0" rtl="0" algn="l">
                        <a:spcBef>
                          <a:spcPts val="0"/>
                        </a:spcBef>
                        <a:spcAft>
                          <a:spcPts val="0"/>
                        </a:spcAft>
                        <a:buNone/>
                      </a:pPr>
                      <a:r>
                        <a:rPr lang="en" sz="1200"/>
                        <a:t>Environmental Property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 sz="1200"/>
                        <a:t>Reasoning</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r>
              <a:tr h="381000">
                <a:tc>
                  <a:txBody>
                    <a:bodyPr/>
                    <a:lstStyle/>
                    <a:p>
                      <a:pPr indent="0" lvl="0" marL="0" rtl="0" algn="l">
                        <a:spcBef>
                          <a:spcPts val="0"/>
                        </a:spcBef>
                        <a:spcAft>
                          <a:spcPts val="0"/>
                        </a:spcAft>
                        <a:buNone/>
                      </a:pPr>
                      <a:r>
                        <a:rPr lang="en" sz="1200"/>
                        <a:t>Observable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Fully Observable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AA4C8"/>
                    </a:solidFill>
                  </a:tcPr>
                </a:tc>
                <a:tc>
                  <a:txBody>
                    <a:bodyPr/>
                    <a:lstStyle/>
                    <a:p>
                      <a:pPr indent="0" lvl="0" marL="0" rtl="0" algn="ctr">
                        <a:spcBef>
                          <a:spcPts val="0"/>
                        </a:spcBef>
                        <a:spcAft>
                          <a:spcPts val="0"/>
                        </a:spcAft>
                        <a:buNone/>
                      </a:pPr>
                      <a:r>
                        <a:rPr lang="en" sz="1200"/>
                        <a:t>Partially Observable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entire board visible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Deterministic vs Stochastic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Deterministic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AA4C8"/>
                    </a:solidFill>
                  </a:tcPr>
                </a:tc>
                <a:tc>
                  <a:txBody>
                    <a:bodyPr/>
                    <a:lstStyle/>
                    <a:p>
                      <a:pPr indent="0" lvl="0" marL="0" rtl="0" algn="ctr">
                        <a:spcBef>
                          <a:spcPts val="0"/>
                        </a:spcBef>
                        <a:spcAft>
                          <a:spcPts val="0"/>
                        </a:spcAft>
                        <a:buNone/>
                      </a:pPr>
                      <a:r>
                        <a:rPr lang="en" sz="1200"/>
                        <a:t>Stochastic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moves have predictable outcomes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Episodic vs Sequential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Episodic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Sequential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AA4C8"/>
                    </a:solidFill>
                  </a:tcPr>
                </a:tc>
                <a:tc>
                  <a:txBody>
                    <a:bodyPr/>
                    <a:lstStyle/>
                    <a:p>
                      <a:pPr indent="0" lvl="0" marL="0" rtl="0" algn="l">
                        <a:spcBef>
                          <a:spcPts val="0"/>
                        </a:spcBef>
                        <a:spcAft>
                          <a:spcPts val="0"/>
                        </a:spcAft>
                        <a:buNone/>
                      </a:pPr>
                      <a:r>
                        <a:rPr lang="en" sz="1200"/>
                        <a:t>current moves affect game outcome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Static vs Dynamic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Static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AA4C8"/>
                    </a:solidFill>
                  </a:tcPr>
                </a:tc>
                <a:tc>
                  <a:txBody>
                    <a:bodyPr/>
                    <a:lstStyle/>
                    <a:p>
                      <a:pPr indent="0" lvl="0" marL="0" rtl="0" algn="ctr">
                        <a:spcBef>
                          <a:spcPts val="0"/>
                        </a:spcBef>
                        <a:spcAft>
                          <a:spcPts val="0"/>
                        </a:spcAft>
                        <a:buNone/>
                      </a:pPr>
                      <a:r>
                        <a:rPr lang="en" sz="1200"/>
                        <a:t>Dynamic</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opponent moves only when agent moves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Discrete vs Continuous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Discrete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AA4C8"/>
                    </a:solidFill>
                  </a:tcPr>
                </a:tc>
                <a:tc>
                  <a:txBody>
                    <a:bodyPr/>
                    <a:lstStyle/>
                    <a:p>
                      <a:pPr indent="0" lvl="0" marL="0" rtl="0" algn="ctr">
                        <a:spcBef>
                          <a:spcPts val="0"/>
                        </a:spcBef>
                        <a:spcAft>
                          <a:spcPts val="0"/>
                        </a:spcAft>
                        <a:buNone/>
                      </a:pPr>
                      <a:r>
                        <a:rPr lang="en" sz="1200"/>
                        <a:t>Continuous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board positions, piece movements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Single vs Multi-agent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Single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Multi</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AA4C8"/>
                    </a:solidFill>
                  </a:tcPr>
                </a:tc>
                <a:tc>
                  <a:txBody>
                    <a:bodyPr/>
                    <a:lstStyle/>
                    <a:p>
                      <a:pPr indent="0" lvl="0" marL="0" rtl="0" algn="l">
                        <a:spcBef>
                          <a:spcPts val="0"/>
                        </a:spcBef>
                        <a:spcAft>
                          <a:spcPts val="0"/>
                        </a:spcAft>
                        <a:buNone/>
                      </a:pPr>
                      <a:r>
                        <a:rPr lang="en" sz="1200"/>
                        <a:t>opponent player taking actions to change states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t>One slide of the presentation should be on the data you used:</a:t>
            </a:r>
            <a:endParaRPr sz="1100"/>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Where did it come from?</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What does it represent?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Where did it come from?</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What ongoing sensor/data sources would the agent be working with?</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Show one sample or a summary of a sample of the data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Any problems with the data (unbalanced classes, missing data, anomalies)</a:t>
            </a:r>
            <a:endParaRPr sz="1100">
              <a:solidFill>
                <a:schemeClr val="dk1"/>
              </a:solidFill>
            </a:endParaRPr>
          </a:p>
          <a:p>
            <a:pPr indent="0" lvl="0" marL="0" rtl="0" algn="l">
              <a:spcBef>
                <a:spcPts val="0"/>
              </a:spcBef>
              <a:spcAft>
                <a:spcPts val="1200"/>
              </a:spcAft>
              <a:buNone/>
            </a:pPr>
            <a:r>
              <a:t/>
            </a:r>
            <a:endParaRPr/>
          </a:p>
        </p:txBody>
      </p:sp>
      <p:graphicFrame>
        <p:nvGraphicFramePr>
          <p:cNvPr id="69" name="Google Shape;69;p15"/>
          <p:cNvGraphicFramePr/>
          <p:nvPr/>
        </p:nvGraphicFramePr>
        <p:xfrm>
          <a:off x="488575" y="3636300"/>
          <a:ext cx="3000000" cy="3000000"/>
        </p:xfrm>
        <a:graphic>
          <a:graphicData uri="http://schemas.openxmlformats.org/drawingml/2006/table">
            <a:tbl>
              <a:tblPr>
                <a:noFill/>
                <a:tableStyleId>{761B21A8-ABBC-478D-B53D-E06D5AF5BAE6}</a:tableStyleId>
              </a:tblPr>
              <a:tblGrid>
                <a:gridCol w="1809750"/>
                <a:gridCol w="1809750"/>
                <a:gridCol w="1809750"/>
                <a:gridCol w="1809750"/>
              </a:tblGrid>
              <a:tr h="381000">
                <a:tc>
                  <a:txBody>
                    <a:bodyPr/>
                    <a:lstStyle/>
                    <a:p>
                      <a:pPr indent="0" lvl="0" marL="0" rtl="0" algn="l">
                        <a:spcBef>
                          <a:spcPts val="0"/>
                        </a:spcBef>
                        <a:spcAft>
                          <a:spcPts val="0"/>
                        </a:spcAft>
                        <a:buNone/>
                      </a:pPr>
                      <a:r>
                        <a:rPr lang="en"/>
                        <a:t>Data fields</a:t>
                      </a:r>
                      <a:endParaRPr/>
                    </a:p>
                  </a:txBody>
                  <a:tcPr marT="91425" marB="91425" marR="91425" marL="91425"/>
                </a:tc>
                <a:tc>
                  <a:txBody>
                    <a:bodyPr/>
                    <a:lstStyle/>
                    <a:p>
                      <a:pPr indent="0" lvl="0" marL="0" rtl="0" algn="l">
                        <a:spcBef>
                          <a:spcPts val="0"/>
                        </a:spcBef>
                        <a:spcAft>
                          <a:spcPts val="0"/>
                        </a:spcAft>
                        <a:buNone/>
                      </a:pPr>
                      <a:r>
                        <a:rPr lang="en"/>
                        <a:t>Field 1..6</a:t>
                      </a:r>
                      <a:endParaRPr/>
                    </a:p>
                  </a:txBody>
                  <a:tcPr marT="91425" marB="91425" marR="91425" marL="91425"/>
                </a:tc>
                <a:tc>
                  <a:txBody>
                    <a:bodyPr/>
                    <a:lstStyle/>
                    <a:p>
                      <a:pPr indent="0" lvl="0" marL="0" rtl="0" algn="l">
                        <a:spcBef>
                          <a:spcPts val="0"/>
                        </a:spcBef>
                        <a:spcAft>
                          <a:spcPts val="0"/>
                        </a:spcAft>
                        <a:buNone/>
                      </a:pPr>
                      <a:r>
                        <a:rPr lang="en"/>
                        <a:t>Other fields</a:t>
                      </a:r>
                      <a:endParaRPr/>
                    </a:p>
                  </a:txBody>
                  <a:tcPr marT="91425" marB="91425" marR="91425" marL="91425"/>
                </a:tc>
                <a:tc>
                  <a:txBody>
                    <a:bodyPr/>
                    <a:lstStyle/>
                    <a:p>
                      <a:pPr indent="0" lvl="0" marL="0" rtl="0" algn="l">
                        <a:spcBef>
                          <a:spcPts val="0"/>
                        </a:spcBef>
                        <a:spcAft>
                          <a:spcPts val="0"/>
                        </a:spcAft>
                        <a:buNone/>
                      </a:pPr>
                      <a:r>
                        <a:rPr lang="en"/>
                        <a:t>Labels/categories</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One slide showing at least one inspection/analysis of that data:</a:t>
            </a:r>
            <a:endParaRPr sz="2300"/>
          </a:p>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It could be one or more covariance charts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could be statistics on the data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Anything that shows me you looked at the data itself to try to understand the structure or shape of it.</a:t>
            </a:r>
            <a:endParaRPr sz="1100">
              <a:solidFill>
                <a:schemeClr val="dk1"/>
              </a:solidFill>
            </a:endParaRPr>
          </a:p>
          <a:p>
            <a:pPr indent="0" lvl="0" marL="0" rtl="0" algn="l">
              <a:spcBef>
                <a:spcPts val="0"/>
              </a:spcBef>
              <a:spcAft>
                <a:spcPts val="1200"/>
              </a:spcAft>
              <a:buNone/>
            </a:pPr>
            <a:r>
              <a:t/>
            </a:r>
            <a:endParaRPr/>
          </a:p>
        </p:txBody>
      </p:sp>
      <p:pic>
        <p:nvPicPr>
          <p:cNvPr id="76" name="Google Shape;76;p16" title="Screenshot from 2026-06-21 12-05-40.png"/>
          <p:cNvPicPr preferRelativeResize="0"/>
          <p:nvPr/>
        </p:nvPicPr>
        <p:blipFill>
          <a:blip r:embed="rId3">
            <a:alphaModFix/>
          </a:blip>
          <a:stretch>
            <a:fillRect/>
          </a:stretch>
        </p:blipFill>
        <p:spPr>
          <a:xfrm>
            <a:off x="5244380" y="2094375"/>
            <a:ext cx="3241349" cy="2889376"/>
          </a:xfrm>
          <a:prstGeom prst="rect">
            <a:avLst/>
          </a:prstGeom>
          <a:noFill/>
          <a:ln>
            <a:noFill/>
          </a:ln>
        </p:spPr>
      </p:pic>
      <p:pic>
        <p:nvPicPr>
          <p:cNvPr id="77" name="Google Shape;77;p16"/>
          <p:cNvPicPr preferRelativeResize="0"/>
          <p:nvPr/>
        </p:nvPicPr>
        <p:blipFill>
          <a:blip r:embed="rId4">
            <a:alphaModFix/>
          </a:blip>
          <a:stretch>
            <a:fillRect/>
          </a:stretch>
        </p:blipFill>
        <p:spPr>
          <a:xfrm>
            <a:off x="633425" y="2280000"/>
            <a:ext cx="4120100" cy="2744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What kind of model/algorithm did you choose to work with?</a:t>
            </a:r>
            <a:endParaRPr sz="2500"/>
          </a:p>
          <a:p>
            <a:pPr indent="0" lvl="0" marL="0" rtl="0" algn="l">
              <a:spcBef>
                <a:spcPts val="0"/>
              </a:spcBef>
              <a:spcAft>
                <a:spcPts val="0"/>
              </a:spcAft>
              <a:buNone/>
            </a:pPr>
            <a:r>
              <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Is it supervised, unsupervised, reinforcement, semi-supervised, ensemble, etc</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Basically show us the structure of your agent (it might be a box with Neural Network - supervised with backpropagation) on it.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Note any major parameters you set (size of the neural network, clustering limits, K in K-means, etc)</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342900" lvl="0" marL="457200" rtl="0" algn="l">
              <a:spcBef>
                <a:spcPts val="0"/>
              </a:spcBef>
              <a:spcAft>
                <a:spcPts val="0"/>
              </a:spcAft>
              <a:buSzPts val="1800"/>
              <a:buChar char="●"/>
            </a:pPr>
            <a:r>
              <a:rPr lang="en"/>
              <a:t>If you worked with multiple ones, feel free to show both on the same slide, but also realize we'll be moving fast during the presentation, so focus on the one you got to work the best and spent the most time considering/analyzing for your agent's needs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of your model's training</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Accuracy, confusion matrix, other outcomes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How'd it do? Any ideas on how to make it better?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Final slide of the presentation should answer some of these questions about the model you built on the data</a:t>
            </a:r>
            <a:endParaRPr sz="1100"/>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How could that learned model be used in your agent-based system?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What would the model enable the agent to understand?</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What would the model enable the agent to learn and/or make decisions 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