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1B21A8-ABBC-478D-B53D-E06D5AF5BAE6}">
  <a:tblStyle styleId="{761B21A8-ABBC-478D-B53D-E06D5AF5BA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1a3c6ac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1a3c6ac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1a3c6ac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1a3c6ac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1a3c6ac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1a3c6ac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1a3c6ac6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1a3c6ac6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1a3c6ac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1a3c6ac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1a3c6ac6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1a3c6ac6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1a3c6ac6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1a3c6ac6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800" b="1"/>
              <a:t>Student Performance Prediction Agent</a:t>
            </a:r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300">
                <a:latin typeface="Calibri"/>
              </a:rPr>
              <a:t>Agent name:</a:t>
            </a:r>
            <a:endParaRPr sz="1100">
              <a:solidFill>
                <a:schemeClr val="dk1"/>
              </a:solidFill>
            </a:endParaRPr>
          </a:p>
          <a:p>
            <a:pPr/>
            <a:r>
              <a:rPr sz="1300">
                <a:latin typeface="Calibri"/>
              </a:rPr>
              <a:t>"Student Performance Prediction Agent (SPPA)"</a:t>
            </a:r>
          </a:p>
          <a:p>
            <a:pPr/>
          </a:p>
          <a:p>
            <a:pPr/>
            <a:r>
              <a:rPr sz="1300">
                <a:latin typeface="Calibri"/>
              </a:rPr>
              <a:t>Goal:</a:t>
            </a:r>
          </a:p>
          <a:p>
            <a:pPr/>
            <a:r>
              <a:rPr sz="1300">
                <a:latin typeface="Calibri"/>
              </a:rPr>
              <a:t>Predict student performance (Low / Medium / High) and recommend early interventions before final examinations.</a:t>
            </a:r>
          </a:p>
          <a:p>
            <a:pPr/>
          </a:p>
          <a:p>
            <a:pPr/>
            <a:r>
              <a:rPr sz="1300">
                <a:latin typeface="Calibri"/>
              </a:rPr>
              <a:t>[Your Name]  |  [Spring 2026]  |  Group [Group Number]</a:t>
            </a:r>
          </a:p>
          <a:p>
            <a:pPr/>
            <a:r>
              <a:rPr sz="1300">
                <a:latin typeface="Calibri"/>
              </a:rPr>
              <a:t>Artificial Intelligence — Final Examination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400" b="1"/>
              <a:t>Russell &amp; Norvig Environment Analysis</a:t>
            </a: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8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200">
                <a:latin typeface="Calibri"/>
              </a:rPr>
              <a:t>Educational ecosystem: schools, classrooms, homes, examination periods</a:t>
            </a:r>
            <a:endParaRPr sz="1100">
              <a:solidFill>
                <a:schemeClr val="dk1"/>
              </a:solidFill>
            </a:endParaRPr>
          </a:p>
          <a:p>
            <a:pPr/>
            <a:r>
              <a:rPr sz="1200">
                <a:latin typeface="Calibri"/>
              </a:rPr>
              <a:t>Agent perceives partial student records and acts via teacher dashboard</a:t>
            </a: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-12" y="214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{761B21A8-ABBC-478D-B53D-E06D5AF5BAE6}</a:tableStyleId>
              </a:tblPr>
              <a:tblGrid>
                <a:gridCol w="2100100"/>
                <a:gridCol w="2100100"/>
                <a:gridCol w="2100100"/>
                <a:gridCol w="2843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Environmental Property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Reasoning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Observable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Partially Observable ✓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Fully Observable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Hidden motivation, home stress, undiagnosed learning needs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Deterministic vs Stochastic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Stochastic ✓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Deterministic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Random Forest outputs probabilities; outcomes are uncertain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Episodic vs Sequential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Sequential ✓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Episodic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G1/G2 history affects G3; interventions shape future state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Static vs Dynamic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Dynamic ✓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Static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Grades and absences change throughout the semester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Discrete vs Continuous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Discrete ✓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Continuous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Decisions: Low / Medium / High performance categories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Single vs Multi-agent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Multi-agent ✓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Single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4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Teachers, students, parents, counselors interact</a:t>
                      </a: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400" b="1"/>
              <a:t>Dataset &amp; Sensors</a:t>
            </a: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200">
                <a:latin typeface="Calibri"/>
              </a:rPr>
              <a:t>Source: UCI ML Repository — Student Performance (Cortez &amp; Silva, 2008)</a:t>
            </a:r>
            <a:endParaRPr sz="1100">
              <a:solidFill>
                <a:schemeClr val="dk1"/>
              </a:solidFill>
            </a:endParaRPr>
          </a:p>
          <a:p>
            <a:pPr/>
            <a:r>
              <a:rPr sz="1200">
                <a:latin typeface="Calibri"/>
              </a:rPr>
              <a:t>Description: 1,044 records (395 Math + 649 Portuguese), 33 features</a:t>
            </a:r>
          </a:p>
          <a:p>
            <a:pPr/>
            <a:r>
              <a:rPr sz="1200">
                <a:latin typeface="Calibri"/>
              </a:rPr>
              <a:t>Sensors: SIS grades, attendance logs, enrollment forms, study surveys</a:t>
            </a:r>
          </a:p>
          <a:p>
            <a:pPr/>
            <a:r>
              <a:rPr sz="1200">
                <a:latin typeface="Calibri"/>
              </a:rPr>
              <a:t>Target: G3 final grade (0–20) → Low / Medium / High</a:t>
            </a:r>
          </a:p>
          <a:p>
            <a:pPr/>
            <a:r>
              <a:rPr sz="1200">
                <a:latin typeface="Calibri"/>
              </a:rPr>
              <a:t>Issues: 22% Low class imbalance, absences outliers (max 93), self-reported fields</a:t>
            </a:r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488575" y="363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{761B21A8-ABBC-478D-B53D-E06D5AF5BAE6}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Sample fields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age, sex, studytime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failures, absences, G1, G2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Calibri"/>
                        </a:rPr>
                        <a:t>G3 / Category</a:t>
                      </a: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Sample rows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15,F,2 | 18,M,1 | 17,F,4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failures, absences, G1, G2</a:t>
                      </a: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Calibri"/>
                        </a:rPr>
                        <a:t>10/Med · 6/Low · 15/High</a:t>
                      </a: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400" b="1"/>
              <a:t>Exploratory Data Analysis</a:t>
            </a: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200">
                <a:latin typeface="Calibri"/>
              </a:rPr>
              <a:t>G2 ↔ G3 correlation: r ≈ 0.90 (strongest predictor)</a:t>
            </a:r>
            <a:endParaRPr sz="1100">
              <a:solidFill>
                <a:schemeClr val="dk1"/>
              </a:solidFill>
            </a:endParaRPr>
          </a:p>
          <a:p>
            <a:pPr/>
            <a:r>
              <a:rPr sz="1200">
                <a:latin typeface="Calibri"/>
              </a:rPr>
              <a:t>G1 ↔ G3: r ≈ 0.80  |  failures ↔ G3: r ≈ -0.35</a:t>
            </a:r>
          </a:p>
          <a:p>
            <a:pPr/>
            <a:r>
              <a:rPr sz="1200">
                <a:latin typeface="Calibri"/>
              </a:rPr>
              <a:t>Mean G3 = 11.9 (σ = 3.2)  |  0 missing values</a:t>
            </a:r>
          </a:p>
          <a:p>
            <a:pPr/>
            <a:r>
              <a:rPr sz="1200">
                <a:latin typeface="Calibri"/>
              </a:rPr>
              <a:t>Categories: Low 22% · Medium 50% · High 28%</a:t>
            </a:r>
          </a:p>
        </p:txBody>
      </p:sp>
      <p:pic>
        <p:nvPicPr>
          <p:cNvPr id="76" name="Picture 75" descr="correlat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380" y="2094375"/>
            <a:ext cx="3241349" cy="2889376"/>
          </a:xfrm>
          <a:prstGeom prst="rect">
            <a:avLst/>
          </a:prstGeom>
        </p:spPr>
      </p:pic>
      <p:pic>
        <p:nvPicPr>
          <p:cNvPr id="77" name="Picture 76" descr="class_distribu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25" y="2280000"/>
            <a:ext cx="4120100" cy="2744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400" b="1"/>
              <a:t>Machine Learning — Learning Component</a:t>
            </a: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200">
                <a:latin typeface="Calibri"/>
              </a:rPr>
              <a:t>Type: Supervised Multi-Class Classification</a:t>
            </a:r>
            <a:endParaRPr sz="1100">
              <a:solidFill>
                <a:schemeClr val="dk1"/>
              </a:solidFill>
            </a:endParaRPr>
          </a:p>
          <a:p>
            <a:pPr/>
            <a:r>
              <a:rPr sz="1200">
                <a:latin typeface="Calibri"/>
              </a:rPr>
              <a:t>Pipeline: Features → StandardScaler + OneHotEncoder → Random Forest</a:t>
            </a:r>
          </a:p>
          <a:p>
            <a:pPr/>
            <a:r>
              <a:rPr sz="1200">
                <a:latin typeface="Calibri"/>
              </a:rPr>
              <a:t>Best model: Random Forest (200 trees, depth 12, balanced weights)</a:t>
            </a:r>
          </a:p>
          <a:p>
            <a:pPr/>
            <a:r>
              <a:rPr sz="1200">
                <a:latin typeface="Calibri"/>
              </a:rPr>
              <a:t>Compared 7 models — RF wins: F1 = 86.15%, Accuracy = 86.12%</a:t>
            </a:r>
          </a:p>
          <a:p>
            <a:pPr/>
            <a:r>
              <a:rPr sz="1200">
                <a:latin typeface="Calibri"/>
              </a:rPr>
              <a:t>Runners-up: Logistic Regression (85.16%), XGBoost (84.68%)</a:t>
            </a:r>
          </a:p>
        </p:txBody>
      </p:sp>
      <p:pic>
        <p:nvPicPr>
          <p:cNvPr id="84" name="Picture 83" descr="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5920"/>
            <a:ext cx="41148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400" b="1"/>
              <a:t>Evaluation Results — Random Forest</a:t>
            </a: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200">
                <a:latin typeface="Calibri"/>
              </a:rPr>
              <a:t>Accuracy: 86.12%  |  Precision: 86.36%  |  Recall: 86.12%</a:t>
            </a:r>
            <a:endParaRPr sz="1100">
              <a:solidFill>
                <a:schemeClr val="dk1"/>
              </a:solidFill>
            </a:endParaRPr>
          </a:p>
          <a:p>
            <a:pPr/>
            <a:r>
              <a:rPr sz="1200">
                <a:latin typeface="Calibri"/>
              </a:rPr>
              <a:t>F1 Score: 86.15%  |  ROC AUC: 94.61%</a:t>
            </a:r>
          </a:p>
          <a:p>
            <a:pPr/>
            <a:r>
              <a:rPr sz="1200">
                <a:latin typeface="Calibri"/>
              </a:rPr>
              <a:t>CV Accuracy: 84.67% ± 1.95%  |  Train/Test: 835 / 209</a:t>
            </a:r>
          </a:p>
          <a:p>
            <a:pPr/>
            <a:r>
              <a:rPr sz="1200">
                <a:latin typeface="Calibri"/>
              </a:rPr>
              <a:t>Top predictor: G2 (2nd period grade)</a:t>
            </a:r>
          </a:p>
          <a:p>
            <a:pPr/>
            <a:r>
              <a:rPr sz="1200">
                <a:latin typeface="Calibri"/>
              </a:rPr>
              <a:t>Training: 0.43s  |  Prediction: 34ms per batch</a:t>
            </a:r>
          </a:p>
        </p:txBody>
      </p:sp>
      <p:pic>
        <p:nvPicPr>
          <p:cNvPr id="90" name="Picture 89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0"/>
            <a:ext cx="3474720" cy="2560320"/>
          </a:xfrm>
          <a:prstGeom prst="rect">
            <a:avLst/>
          </a:prstGeom>
        </p:spPr>
      </p:pic>
      <p:pic>
        <p:nvPicPr>
          <p:cNvPr id="91" name="Picture 90" descr="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828800"/>
            <a:ext cx="4389120" cy="2560320"/>
          </a:xfrm>
          <a:prstGeom prst="rect">
            <a:avLst/>
          </a:prstGeom>
        </p:spPr>
      </p:pic>
      <p:pic>
        <p:nvPicPr>
          <p:cNvPr id="92" name="Picture 91" descr="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1828800"/>
            <a:ext cx="32004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/>
              <a:t>Agent Integration — From Prediction to Action</a:t>
            </a: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sz="1200">
                <a:latin typeface="Calibri"/>
              </a:rPr>
              <a:t>ML model = Learning Component inside the intelligent agent</a:t>
            </a:r>
            <a:endParaRPr sz="1100">
              <a:solidFill>
                <a:schemeClr val="dk1"/>
              </a:solidFill>
            </a:endParaRPr>
          </a:p>
          <a:p>
            <a:pPr/>
            <a:r>
              <a:rPr sz="1200">
                <a:latin typeface="Calibri"/>
              </a:rPr>
              <a:t>Flow: Percepts → Preprocess → RF probabilities → Risk engine → Actions</a:t>
            </a:r>
          </a:p>
          <a:p>
            <a:pPr/>
            <a:r>
              <a:rPr sz="1200">
                <a:latin typeface="Calibri"/>
              </a:rPr>
              <a:t>Dashboard scores 1,044 students: 233 HIGH · 525 MEDIUM · 286 LOW priority</a:t>
            </a:r>
          </a:p>
          <a:p>
            <a:pPr/>
            <a:r>
              <a:rPr sz="1200">
                <a:latin typeface="Calibri"/>
              </a:rPr>
              <a:t>Actions: counseling, tutoring, parent alerts, teacher dashboard CSV</a:t>
            </a:r>
          </a:p>
          <a:p>
            <a:pPr/>
            <a:r>
              <a:rPr sz="1200">
                <a:latin typeface="Calibri"/>
              </a:rPr>
              <a:t>Components: Sensors, Knowledge Base, Decision Engine, Memory, Actuators</a:t>
            </a:r>
          </a:p>
          <a:p>
            <a:pPr/>
            <a:r>
              <a:rPr sz="1200">
                <a:latin typeface="Calibri"/>
              </a:rPr>
              <a:t>Limitations: Portuguese data only, ~14% error, privacy &amp; bias concerns</a:t>
            </a:r>
          </a:p>
          <a:p>
            <a:pPr/>
            <a:r>
              <a:rPr sz="1200">
                <a:latin typeface="Calibri"/>
              </a:rPr>
              <a:t>Future: SHAP explainability, real-time analytics, LLM parent reports</a:t>
            </a:r>
          </a:p>
          <a:p>
            <a:pPr/>
          </a:p>
          <a:p>
            <a:pPr/>
            <a:r>
              <a:rPr sz="1200">
                <a:latin typeface="Calibri"/>
              </a:rPr>
              <a:t>Thank you — Questions welcome.</a:t>
            </a:r>
          </a:p>
        </p:txBody>
      </p:sp>
      <p:pic>
        <p:nvPicPr>
          <p:cNvPr id="96" name="Picture 95" descr="agent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63240"/>
            <a:ext cx="850392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